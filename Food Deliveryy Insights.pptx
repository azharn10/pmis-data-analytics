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Inter SemiBold" panose="020B0604020202020204" charset="0"/>
      <p:regular r:id="rId22"/>
      <p:bold r:id="rId23"/>
      <p:italic r:id="rId24"/>
      <p:boldItalic r:id="rId25"/>
    </p:embeddedFont>
    <p:embeddedFont>
      <p:font typeface="Poppins" panose="020B0502040204020203" pitchFamily="2" charset="0"/>
      <p:regular r:id="rId26"/>
      <p:bold r:id="rId27"/>
      <p:italic r:id="rId28"/>
      <p:boldItalic r:id="rId29"/>
    </p:embeddedFont>
    <p:embeddedFont>
      <p:font typeface="Poppins Medium" panose="020B0502040204020203" pitchFamily="2" charset="0"/>
      <p:regular r:id="rId30"/>
      <p:bold r:id="rId31"/>
      <p:italic r:id="rId32"/>
      <p:boldItalic r:id="rId33"/>
    </p:embeddedFont>
    <p:embeddedFont>
      <p:font typeface="Poppins SemiBold" panose="020B0502040204020203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viewProps" Target="viewProps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4232820"/>
            <a:ext cx="8572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19675" y="2005905"/>
            <a:ext cx="215265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595437" y="2482155"/>
            <a:ext cx="9001125" cy="56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Food Delivery Analysis Dashboard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3194595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 executive-level analysis of logistic bottlenecks, customer satisfaction scores, and revenue distributions using Power BI Desktop solutions.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555443" y="4525925"/>
            <a:ext cx="3011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Prepared by</a:t>
            </a: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M. HUSAIN NAGORI,ASMA SHAHBAZ SHAIKH,M AZHAR SUHAIL NURSUMAR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329362" y="4480470"/>
            <a:ext cx="21907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Technology Stack</a:t>
            </a: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Power BI Desktop &amp; Python ETL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5948362" y="4480470"/>
            <a:ext cx="9525" cy="3238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358479"/>
            <a:ext cx="5238750" cy="2767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358479"/>
            <a:ext cx="5238750" cy="276760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62025" y="2653754"/>
            <a:ext cx="488061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6B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Primary Project Objectives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62025" y="3082379"/>
            <a:ext cx="46482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Develop an automated, interactive diagnostic interface that consolidates multiple transactional segments to replace slow, error-prone spreadsheets.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62025" y="3956595"/>
            <a:ext cx="46482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Track critical key performance metrics such as order speed, rating distributions, and regional operational performance parameters across the system.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581775" y="2653754"/>
            <a:ext cx="488061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6B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Target Outcomes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581775" y="3082379"/>
            <a:ext cx="46482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Highlight delivery latency hotspots across regions, pinpoint low-rated kitchen partners, and identify high-revenue food segments to maximize platform margins.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81775" y="3956595"/>
            <a:ext cx="46482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Empower administrative dispatch teams to coordinate real-time courier adjustments using centralized business dashboards.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09625" y="476250"/>
            <a:ext cx="11251406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Objectives &amp; Approach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666750" y="476250"/>
            <a:ext cx="47625" cy="38859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8275" y="-1190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/>
          <p:nvPr/>
        </p:nvSpPr>
        <p:spPr>
          <a:xfrm>
            <a:off x="5715000" y="2662237"/>
            <a:ext cx="7620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3248144" y="2938462"/>
            <a:ext cx="5695711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Phase 1: Data Blueprint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2286000" y="4292462"/>
            <a:ext cx="7620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Establishing the structural constraints, cleaning pipelines, and calculations that turn raw transactional tables into dynamic dashboards.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464147"/>
            <a:ext cx="3460700" cy="2556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5575" y="2464147"/>
            <a:ext cx="3460700" cy="2556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464147"/>
            <a:ext cx="3460700" cy="255627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914400" y="3226147"/>
            <a:ext cx="311367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6B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Scale Barrier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914400" y="3654772"/>
            <a:ext cx="296540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Manually tracking thousands of orders across scattered cities obscures latency problems, delaying logistics teams from correcting dispatch bottlenecks.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613225" y="3226147"/>
            <a:ext cx="311367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6B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Information Gaps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13225" y="3654772"/>
            <a:ext cx="296540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Important factors like customer rating shifts, order cancellations, and payment method patterns remain hidden within raw server logs.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312050" y="3226147"/>
            <a:ext cx="311367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6B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Revenue Friction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312050" y="3654772"/>
            <a:ext cx="29654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Failing to identify late-dispatch patterns and low-performing menus causes customer churn and lost order value.</a:t>
            </a:r>
            <a:endParaRPr/>
          </a:p>
        </p:txBody>
      </p:sp>
      <p:pic>
        <p:nvPicPr>
          <p:cNvPr id="129" name="Google Shape;12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74037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274037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12050" y="274037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809625" y="476250"/>
            <a:ext cx="11251406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Operational Friction Points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666750" y="476250"/>
            <a:ext cx="47625" cy="38859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287041"/>
            <a:ext cx="5238750" cy="2910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87041"/>
            <a:ext cx="5238750" cy="291048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962025" y="2582316"/>
            <a:ext cx="488061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6B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Transactional Scope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962025" y="3010941"/>
            <a:ext cx="46482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analytics matrix spans 800 transaction records, tracking operational activities across 8 metropolitan cities and 40 unique restaurant partners.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62025" y="3885158"/>
            <a:ext cx="46482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This balances numeric logistical performance indicators with categorized food order parameters for highly precise filtering.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581775" y="2582316"/>
            <a:ext cx="488061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6B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Core Field Definitions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581775" y="3010941"/>
            <a:ext cx="46482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Fulfillment Layers: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Order ID, Order Date, Customer ID, City, Order Status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581775" y="3641377"/>
            <a:ext cx="46482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Merchant Metrics: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Restaurant Name, Food Category, Payment Method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581775" y="4271813"/>
            <a:ext cx="46482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Performance Data: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Order Value (INR), Delivery Time (Mins), Customer Rating (1-5)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09625" y="476250"/>
            <a:ext cx="11251406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Dataset Schema Overview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666750" y="476250"/>
            <a:ext cx="47625" cy="38859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2143125" y="2287339"/>
            <a:ext cx="823912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Null &amp; Blank Management:</a:t>
            </a:r>
            <a:r>
              <a:rPr lang="en-US" sz="1275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Identified 124 blank records in `Delivery Time` and 236 in `Rating`. Analyzed and confirmed these map to cancelled/pending orders; adjusted logic to avoid distorting metrics.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2143125" y="3014811"/>
            <a:ext cx="823912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Date-Time Normalization:</a:t>
            </a:r>
            <a:r>
              <a:rPr lang="en-US" sz="1275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Converted textual date logs into active system date types, enabling smooth month-over-month trend modeling.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2143125" y="3742283"/>
            <a:ext cx="823912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Unique Record Auditing:</a:t>
            </a:r>
            <a:r>
              <a:rPr lang="en-US" sz="1275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Applied strict duplicate filters on Order IDs, verifying exactly 800 unique transactions across all locations.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2143125" y="4469755"/>
            <a:ext cx="823912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Outlier Verification:</a:t>
            </a:r>
            <a:r>
              <a:rPr lang="en-US" sz="1275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Isolated extreme log entries (e.g., zero-minute dispatches) to ensure precise dashboard averages.</a:t>
            </a:r>
            <a:endParaRPr/>
          </a:p>
        </p:txBody>
      </p:sp>
      <p:pic>
        <p:nvPicPr>
          <p:cNvPr id="159" name="Google Shape;15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33020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057673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78514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512617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809625" y="476250"/>
            <a:ext cx="11251406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Power Query Preprocessing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666750" y="476250"/>
            <a:ext cx="47625" cy="38859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73609"/>
            <a:ext cx="5238750" cy="3537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81775" y="4487912"/>
            <a:ext cx="4648200" cy="58489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666750" y="3070770"/>
            <a:ext cx="52387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>
                <a:solidFill>
                  <a:srgbClr val="FF6B00"/>
                </a:solidFill>
                <a:latin typeface="Poppins"/>
                <a:ea typeface="Poppins"/>
                <a:cs typeface="Poppins"/>
                <a:sym typeface="Poppins"/>
              </a:rPr>
              <a:t>₹648.7k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66750" y="4213770"/>
            <a:ext cx="5238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Platform Gross Revenue (GMV)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581775" y="2268884"/>
            <a:ext cx="488061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6B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Technical Dax Implementation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581775" y="2697509"/>
            <a:ext cx="46482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Dynamic KPI displays and performance tracking cards run on optimized, real-time DAX formulas: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581775" y="3327945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Total Revenue = SUM(Dataset[Order Value])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581775" y="3714601"/>
            <a:ext cx="46482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Operational growth rates compare current performance to previous baselines using this mathematical structure:</a:t>
            </a:r>
            <a:endParaRPr/>
          </a:p>
        </p:txBody>
      </p:sp>
      <p:pic>
        <p:nvPicPr>
          <p:cNvPr id="178" name="Google Shape;17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29425" y="4640312"/>
            <a:ext cx="2546300" cy="28009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809625" y="476250"/>
            <a:ext cx="11251406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Calculations &amp; Core DAX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666750" y="476250"/>
            <a:ext cx="47625" cy="38859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/>
          <p:nvPr/>
        </p:nvSpPr>
        <p:spPr>
          <a:xfrm>
            <a:off x="5715000" y="2662237"/>
            <a:ext cx="7620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3160633" y="2938462"/>
            <a:ext cx="5870733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Phase 2: Visual Insights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2286000" y="3824287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Exploring operational trends, delivery latencies, and transaction values across different food categories and regions.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837283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837283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962025" y="2653754"/>
            <a:ext cx="488061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6B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South Indian Cuisines Lead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962025" y="3082379"/>
            <a:ext cx="46482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platform's primary revenue engine is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South Indian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food, generating over ₹76,000, closely followed by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Fast Food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Street Food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962025" y="3956595"/>
            <a:ext cx="46482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 contrast, traditional North Indian and Pizza categories sit at the lower end of transactional value, highlighting clear opportunities to optimize menu partnerships.</a:t>
            </a:r>
            <a:endParaRPr/>
          </a:p>
        </p:txBody>
      </p:sp>
      <p:pic>
        <p:nvPicPr>
          <p:cNvPr id="199" name="Google Shape;19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900" y="1989683"/>
            <a:ext cx="4933950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809625" y="476250"/>
            <a:ext cx="11251406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Revenue by Food Category</a:t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666750" y="476250"/>
            <a:ext cx="47625" cy="38859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21" title="Code_Generated_Imag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79025" y="1989675"/>
            <a:ext cx="5053600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837283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837283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962025" y="2653754"/>
            <a:ext cx="488061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6B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Balanced Payment Channels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962025" y="3082379"/>
            <a:ext cx="46482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Customer payments are distributed highly evenly, showing no single dominant channel across the system.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962025" y="3712815"/>
            <a:ext cx="464820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Digital Wallets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lead at 21.8%, with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Cash on Delivery (COD)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close behind at 21.5%. UPI and Credit cards each capture 18-19%, requiring the platform to support all payment integrations equally.</a:t>
            </a:r>
            <a:endParaRPr/>
          </a:p>
        </p:txBody>
      </p:sp>
      <p:pic>
        <p:nvPicPr>
          <p:cNvPr id="213" name="Google Shape;21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900" y="1989683"/>
            <a:ext cx="4933950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09625" y="476250"/>
            <a:ext cx="11251406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Payment Method Preferences</a:t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666750" y="476250"/>
            <a:ext cx="47625" cy="38859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22" title="Code_Generated_Image (1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74075" y="1837275"/>
            <a:ext cx="5151176" cy="3766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837283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837283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962025" y="2775644"/>
            <a:ext cx="488061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6B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Metropolitan Revenue Clusters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962025" y="3204269"/>
            <a:ext cx="46482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Chennai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Bangalore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lead regional sales performance, with each city contributing over ₹90,000 in gross revenue.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962025" y="3834705"/>
            <a:ext cx="46482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Hyderabad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shows the lowest performance, capturing under ₹67,000. This indicates a clear need for targeted local promotions to expand market share.</a:t>
            </a:r>
            <a:endParaRPr/>
          </a:p>
        </p:txBody>
      </p:sp>
      <p:pic>
        <p:nvPicPr>
          <p:cNvPr id="227" name="Google Shape;22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900" y="1989683"/>
            <a:ext cx="4933950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809625" y="476250"/>
            <a:ext cx="11251406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Regional Revenue Analysis</a:t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666750" y="476250"/>
            <a:ext cx="47625" cy="38859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23" title="Code_Generated_Image (2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86500" y="2107425"/>
            <a:ext cx="5238750" cy="331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837283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837283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/>
          <p:nvPr/>
        </p:nvSpPr>
        <p:spPr>
          <a:xfrm>
            <a:off x="962025" y="2775644"/>
            <a:ext cx="488061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6B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Logistical Latency Analysis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962025" y="3204269"/>
            <a:ext cx="46482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platform maintains a stable national average delivery time of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38 minutes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but regional latencies vary significantly.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962025" y="3834705"/>
            <a:ext cx="46482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Ahmedabad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Kolkata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show the longest dispatch delays, crossing the 40-minute mark. These cities require immediate optimizations to rider density.</a:t>
            </a:r>
            <a:endParaRPr/>
          </a:p>
        </p:txBody>
      </p:sp>
      <p:pic>
        <p:nvPicPr>
          <p:cNvPr id="241" name="Google Shape;241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900" y="1989683"/>
            <a:ext cx="4933950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4"/>
          <p:cNvSpPr txBox="1"/>
          <p:nvPr/>
        </p:nvSpPr>
        <p:spPr>
          <a:xfrm>
            <a:off x="809625" y="476250"/>
            <a:ext cx="11251406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Average Delivery Duration</a:t>
            </a:r>
            <a:endParaRPr/>
          </a:p>
        </p:txBody>
      </p:sp>
      <p:sp>
        <p:nvSpPr>
          <p:cNvPr id="243" name="Google Shape;243;p24"/>
          <p:cNvSpPr/>
          <p:nvPr/>
        </p:nvSpPr>
        <p:spPr>
          <a:xfrm>
            <a:off x="666750" y="476250"/>
            <a:ext cx="47625" cy="38859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24" title="Code_Generated_Image (3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83800" y="2167975"/>
            <a:ext cx="5044150" cy="299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837283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837283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962025" y="2775644"/>
            <a:ext cx="488061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6B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Fulfillment Health Metric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962025" y="3204269"/>
            <a:ext cx="46482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While the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70.5% delivered rate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is stable, the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14.0% cancellation rate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represents a major loss of revenue.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962025" y="3834705"/>
            <a:ext cx="46482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Additionally, 15.5% of transactions remain pending. Improving dispatch times will help convert these pending orders and reduce cancellations.</a:t>
            </a:r>
            <a:endParaRPr/>
          </a:p>
        </p:txBody>
      </p:sp>
      <p:pic>
        <p:nvPicPr>
          <p:cNvPr id="255" name="Google Shape;255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900" y="1989683"/>
            <a:ext cx="4933950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 txBox="1"/>
          <p:nvPr/>
        </p:nvSpPr>
        <p:spPr>
          <a:xfrm>
            <a:off x="809625" y="476250"/>
            <a:ext cx="11251406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Platform Fulfillment Status</a:t>
            </a:r>
            <a:endParaRPr/>
          </a:p>
        </p:txBody>
      </p:sp>
      <p:sp>
        <p:nvSpPr>
          <p:cNvPr id="257" name="Google Shape;257;p25"/>
          <p:cNvSpPr/>
          <p:nvPr/>
        </p:nvSpPr>
        <p:spPr>
          <a:xfrm>
            <a:off x="666750" y="476250"/>
            <a:ext cx="47625" cy="38859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25" title="Code_Generated_Image (4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98350" y="1919675"/>
            <a:ext cx="5020376" cy="372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837283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837283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6"/>
          <p:cNvSpPr txBox="1"/>
          <p:nvPr/>
        </p:nvSpPr>
        <p:spPr>
          <a:xfrm>
            <a:off x="962025" y="2653754"/>
            <a:ext cx="488061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6B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Anchor Revenue Partners</a:t>
            </a:r>
            <a:endParaRPr/>
          </a:p>
        </p:txBody>
      </p:sp>
      <p:sp>
        <p:nvSpPr>
          <p:cNvPr id="267" name="Google Shape;267;p26"/>
          <p:cNvSpPr txBox="1"/>
          <p:nvPr/>
        </p:nvSpPr>
        <p:spPr>
          <a:xfrm>
            <a:off x="962025" y="3082379"/>
            <a:ext cx="46482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Namma Bengaluru Cafe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Chennai Chettinad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are the platform's highest-performing merchants, each contributing over ₹23,000.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962025" y="3956595"/>
            <a:ext cx="46482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top 10 merchants are highly competitive, with each generating around ₹20,000. This highlights the importance of retaining these key restaurant relationships.</a:t>
            </a:r>
            <a:endParaRPr/>
          </a:p>
        </p:txBody>
      </p:sp>
      <p:pic>
        <p:nvPicPr>
          <p:cNvPr id="269" name="Google Shape;269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900" y="1989683"/>
            <a:ext cx="4933950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 txBox="1"/>
          <p:nvPr/>
        </p:nvSpPr>
        <p:spPr>
          <a:xfrm>
            <a:off x="809625" y="476250"/>
            <a:ext cx="11251406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Top Performing Restaurants</a:t>
            </a:r>
            <a:endParaRPr/>
          </a:p>
        </p:txBody>
      </p:sp>
      <p:sp>
        <p:nvSpPr>
          <p:cNvPr id="271" name="Google Shape;271;p26"/>
          <p:cNvSpPr/>
          <p:nvPr/>
        </p:nvSpPr>
        <p:spPr>
          <a:xfrm>
            <a:off x="666750" y="476250"/>
            <a:ext cx="47625" cy="38859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26" title="Code_Generated_Image (5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30875" y="2038450"/>
            <a:ext cx="5150000" cy="335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709737"/>
            <a:ext cx="5310187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1709737"/>
            <a:ext cx="5310187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666750" y="4900612"/>
            <a:ext cx="5310187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Order Value Spread: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Shows highly consistent transaction patterns from ₹200 to ₹1400, reflecting a healthy balance of single and group orders.</a:t>
            </a:r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6215062" y="4900612"/>
            <a:ext cx="5310187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Customer Ratings: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Most ratings group around the 3.3 and 3.5 marks. High-volume partners should be optimized to lift these scores toward the 4.5+ range.</a:t>
            </a:r>
            <a:endParaRPr/>
          </a:p>
        </p:txBody>
      </p:sp>
      <p:pic>
        <p:nvPicPr>
          <p:cNvPr id="282" name="Google Shape;282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64443" y="1862137"/>
            <a:ext cx="41148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12756" y="1862137"/>
            <a:ext cx="41148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7"/>
          <p:cNvSpPr txBox="1"/>
          <p:nvPr/>
        </p:nvSpPr>
        <p:spPr>
          <a:xfrm>
            <a:off x="809625" y="476250"/>
            <a:ext cx="11251406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Value &amp; Quality Distribution</a:t>
            </a:r>
            <a:endParaRPr/>
          </a:p>
        </p:txBody>
      </p:sp>
      <p:sp>
        <p:nvSpPr>
          <p:cNvPr id="285" name="Google Shape;285;p27"/>
          <p:cNvSpPr/>
          <p:nvPr/>
        </p:nvSpPr>
        <p:spPr>
          <a:xfrm>
            <a:off x="666750" y="476250"/>
            <a:ext cx="47625" cy="38859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27" title="Code_Generated_Image (6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8762" y="1862125"/>
            <a:ext cx="4546150" cy="284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 title="Code_Generated_Image (7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38575" y="1862125"/>
            <a:ext cx="4546150" cy="2841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862</Words>
  <Application>Microsoft Office PowerPoint</Application>
  <PresentationFormat>Widescreen</PresentationFormat>
  <Paragraphs>69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Poppins</vt:lpstr>
      <vt:lpstr>Arial</vt:lpstr>
      <vt:lpstr>Poppins SemiBold</vt:lpstr>
      <vt:lpstr>Inter SemiBold</vt:lpstr>
      <vt:lpstr>Inter</vt:lpstr>
      <vt:lpstr>Calibri</vt:lpstr>
      <vt:lpstr>Poppins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Hello</dc:creator>
  <cp:lastModifiedBy>sam shaikh</cp:lastModifiedBy>
  <cp:revision>1</cp:revision>
  <dcterms:modified xsi:type="dcterms:W3CDTF">2026-07-16T06:01:43Z</dcterms:modified>
</cp:coreProperties>
</file>